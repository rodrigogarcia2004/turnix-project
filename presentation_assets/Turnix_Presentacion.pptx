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E0F2F1"/>
              </a:gs>
              <a:gs pos="100000">
                <a:srgbClr val="F0F8FF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188720"/>
            <a:ext cx="10058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" cy="4572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7373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2C3E50"/>
                </a:solidFill>
                <a:latin typeface="Calibri"/>
              </a:rPr>
              <a:t>Turnix Salud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1E88E5"/>
                </a:solidFill>
                <a:latin typeface="Calibri"/>
              </a:rPr>
              <a:t>La plataforma que conecta pacientes y médicos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3383280"/>
            <a:ext cx="1828800" cy="45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6118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Calibri"/>
              </a:rPr>
              <a:t>Pide tu turno, habla con tu médico y recibe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Calibri"/>
              </a:rPr>
              <a:t>tus recetas firmadas, todo desde el navegador.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5212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B7A"/>
                </a:solidFill>
                <a:latin typeface="Calibri"/>
              </a:rPr>
              <a:t>Proyecto Fin de Ciclo  ·  Rodrigo García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C3E50"/>
                </a:solidFill>
                <a:latin typeface="Calibri"/>
              </a:rPr>
              <a:t>01 · ¿Qué es Turnix?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88E5"/>
                </a:solidFill>
                <a:latin typeface="Calibri"/>
              </a:rPr>
              <a:t>Una app web que digitaliza la consulta médica de principio a fin.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611880" cy="31089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3611880" cy="8686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8716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FFFFFF"/>
                </a:solidFill>
                <a:latin typeface="Calibri"/>
              </a:rPr>
              <a:t>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54203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Turnos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29000"/>
            <a:ext cx="2971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Pide cita y haz cola desde el sofá. Sabes siempre cuántas personas tienes delante.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86000"/>
            <a:ext cx="3611880" cy="31089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2286000"/>
            <a:ext cx="3611880" cy="8686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48716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254203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Consulta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429000"/>
            <a:ext cx="2971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Hablas con el médico desde el navegador. Sin instalar nada, sin esperar en la sala.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286000"/>
            <a:ext cx="3611880" cy="31089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2286000"/>
            <a:ext cx="3611880" cy="8686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48716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54203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429000"/>
            <a:ext cx="2971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El médico firma con el ratón y tú descargas tu receta en PDF al instante.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6B7A"/>
                </a:solidFill>
                <a:latin typeface="Calibri"/>
              </a:rPr>
              <a:t>Todo en un mismo sitio, accesible desde móvil, tablet u ordenador.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C3E50"/>
                </a:solidFill>
                <a:latin typeface="Calibri"/>
              </a:rPr>
              <a:t>02 · Tres perfiles, una sola plataforma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611880" cy="429768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4520" y="1920240"/>
            <a:ext cx="960120" cy="9601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20" y="2057400"/>
            <a:ext cx="960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1E88E5"/>
                </a:solidFill>
                <a:latin typeface="Calibri"/>
              </a:rPr>
              <a:t>Paciente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7490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Pide turno por especialidad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51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Habla con su médico por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75488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Descarga sus recetas en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2578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Consulta su historial médico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554480"/>
            <a:ext cx="3611880" cy="429768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69280" y="1920240"/>
            <a:ext cx="960120" cy="96012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960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Calibri"/>
              </a:rPr>
              <a:t>👨‍⚕️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06324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897B"/>
                </a:solidFill>
                <a:latin typeface="Calibri"/>
              </a:rPr>
              <a:t>Médico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7490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Ve los pacientes en espera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251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Atiende uno por uno por 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75488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Genera la receta y la firma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52578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Recibe valoraciones del paciente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554480"/>
            <a:ext cx="3611880" cy="429768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464040" y="1920240"/>
            <a:ext cx="960120" cy="960120"/>
          </a:xfrm>
          <a:prstGeom prst="ellipse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2057400"/>
            <a:ext cx="960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Calibri"/>
              </a:rPr>
              <a:t>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06324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C3E50"/>
                </a:solidFill>
                <a:latin typeface="Calibri"/>
              </a:rPr>
              <a:t>Administrador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490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Gestiona usuarios y permisos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251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Aprueba cambios de especialidad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475488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Supervisa la actividad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52578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•  Activa modo claro u oscuro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C3E50"/>
                </a:solidFill>
                <a:latin typeface="Calibri"/>
              </a:rPr>
              <a:t>03 · ¿Cómo funciona, paso a paso?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88E5"/>
                </a:solidFill>
                <a:latin typeface="Calibri"/>
              </a:rPr>
              <a:t>El recorrido del paciente, desde que entra hasta que recibe su receta.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3611880" cy="19659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331720"/>
            <a:ext cx="777240" cy="77724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42316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C3E50"/>
                </a:solidFill>
                <a:latin typeface="Calibri"/>
              </a:rPr>
              <a:t>Entrar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El paciente abre la web y elige Portal Paciente.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33088" y="2926080"/>
            <a:ext cx="228600" cy="274320"/>
          </a:xfrm>
          <a:prstGeom prst="rightArrow">
            <a:avLst/>
          </a:prstGeom>
          <a:solidFill>
            <a:srgbClr val="5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2057400"/>
            <a:ext cx="3611880" cy="19659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17720" y="2331720"/>
            <a:ext cx="777240" cy="77724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441448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42316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C3E50"/>
                </a:solidFill>
                <a:latin typeface="Calibri"/>
              </a:rPr>
              <a:t>Pedir turno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2004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Selecciona la especialidad y se pone en cola.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27848" y="2926080"/>
            <a:ext cx="228600" cy="274320"/>
          </a:xfrm>
          <a:prstGeom prst="rightArrow">
            <a:avLst/>
          </a:prstGeom>
          <a:solidFill>
            <a:srgbClr val="5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38160" y="2057400"/>
            <a:ext cx="3611880" cy="19659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0" y="2331720"/>
            <a:ext cx="777240" cy="77724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2441448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2316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C3E50"/>
                </a:solidFill>
                <a:latin typeface="Calibri"/>
              </a:rPr>
              <a:t>Esperar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2004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Ve cuántas personas tiene delante en tiempo real.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06240"/>
            <a:ext cx="3611880" cy="19659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" y="4480560"/>
            <a:ext cx="777240" cy="777240"/>
          </a:xfrm>
          <a:prstGeom prst="ellipse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90288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57200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C3E50"/>
                </a:solidFill>
                <a:latin typeface="Calibri"/>
              </a:rPr>
              <a:t>Consultar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34924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Cuando es su turno, chatea con el médico desde el navegador.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133088" y="5074920"/>
            <a:ext cx="228600" cy="274320"/>
          </a:xfrm>
          <a:prstGeom prst="rightArrow">
            <a:avLst/>
          </a:prstGeom>
          <a:solidFill>
            <a:srgbClr val="5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343400" y="4206240"/>
            <a:ext cx="3611880" cy="19659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17720" y="4480560"/>
            <a:ext cx="777240" cy="7772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4590288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32120" y="457200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C3E50"/>
                </a:solidFill>
                <a:latin typeface="Calibri"/>
              </a:rPr>
              <a:t>Recibir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534924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Si necesita medicación, el médico genera y firma la receta.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927848" y="5074920"/>
            <a:ext cx="228600" cy="274320"/>
          </a:xfrm>
          <a:prstGeom prst="rightArrow">
            <a:avLst/>
          </a:prstGeom>
          <a:solidFill>
            <a:srgbClr val="5B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38160" y="4206240"/>
            <a:ext cx="3611880" cy="19659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412480" y="4480560"/>
            <a:ext cx="777240" cy="7772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4590288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457200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C3E50"/>
                </a:solidFill>
                <a:latin typeface="Calibri"/>
              </a:rPr>
              <a:t>Descargar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534924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El paciente descarga su receta en PDF cuando quiera.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C3E50"/>
                </a:solidFill>
                <a:latin typeface="Calibri"/>
              </a:rPr>
              <a:t>04 · La página de inicio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acceso_hom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6035040" cy="33947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4630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88E5"/>
                </a:solidFill>
                <a:latin typeface="Calibri"/>
              </a:rPr>
              <a:t>Una sola pantalla para todos.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521208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Dos puertas claras: Portal Médico y Portal Paciente.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Servicios visibles desde el inicio: turnos, recetas, historial y administración.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Botón de modo claro / modo oscuro siempre disponible arriba a la derecha.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Diseño pensado para que cualquier persona, sin experiencia técnica, sepa dónde pulsar.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C3E50"/>
                </a:solidFill>
                <a:latin typeface="Calibri"/>
              </a:rPr>
              <a:t>05 · Lo que ve el paciente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paciente_recet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417320"/>
            <a:ext cx="512064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463040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88E5"/>
                </a:solidFill>
                <a:latin typeface="Calibri"/>
              </a:rPr>
              <a:t>Su salud, organizada en su cuenta personal.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612648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Foto de perfil y datos personales editables.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Lista de turnos pedidos, con su estado actual.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Sección «Mis Recetas» con todas las prescripciones recibidas.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Cada receta tiene un botón verde para descargarla en PDF.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Notificación automática cuando un médico le emite una nueva receta.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C3E50"/>
                </a:solidFill>
                <a:latin typeface="Calibri"/>
              </a:rPr>
              <a:t>06 · Lo que ve el médico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medico_pane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577840" cy="313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4630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88E5"/>
                </a:solidFill>
                <a:latin typeface="Calibri"/>
              </a:rPr>
              <a:t>Su consulta digital con todo a mano.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566928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Su nota media de pacientes, en grande.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Lista de pacientes en espera, ordenados por orden de llegada.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Acceso al historial y documentos del paciente actual.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Botón para llamar al siguiente paciente con un solo clic.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1">
                <a:solidFill>
                  <a:srgbClr val="00897B"/>
                </a:solidFill>
                <a:latin typeface="Calibri"/>
              </a:rPr>
              <a:t>•  </a:t>
            </a:r>
            <a:r>
              <a:rPr sz="1400">
                <a:solidFill>
                  <a:srgbClr val="2C3E50"/>
                </a:solidFill>
                <a:latin typeface="Calibri"/>
              </a:rPr>
              <a:t>Modo offline para indicar que está en descanso.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C3E50"/>
                </a:solidFill>
                <a:latin typeface="Calibri"/>
              </a:rPr>
              <a:t>07 · La receta firmada con el ratón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medico_firma_mod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6126480" cy="34461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4630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88E5"/>
                </a:solidFill>
                <a:latin typeface="Calibri"/>
              </a:rPr>
              <a:t>Una firma de verdad, sin papel.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57400"/>
            <a:ext cx="4937760" cy="5943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040880" y="2167128"/>
            <a:ext cx="384048" cy="384048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222199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221992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El médico rellena medicamento, dosis y duración.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770632"/>
            <a:ext cx="4937760" cy="5943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0" y="2880360"/>
            <a:ext cx="384048" cy="384048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29352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935224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Firma con el ratón o el trackpad sobre el recuadro blanco.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3483864"/>
            <a:ext cx="4937760" cy="5943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40880" y="3593592"/>
            <a:ext cx="384048" cy="384048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36484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648456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Confirma con su contraseña para validar la prescripción.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4197096"/>
            <a:ext cx="4937760" cy="5943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40880" y="4306824"/>
            <a:ext cx="384048" cy="384048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436168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361688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El paciente recibe un aviso al instante.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910328"/>
            <a:ext cx="4937760" cy="59436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40880" y="5020056"/>
            <a:ext cx="384048" cy="384048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50749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07492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Cualquiera de los dos puede descargar el PDF cuando quiera.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C3E50"/>
                </a:solidFill>
                <a:latin typeface="Calibri"/>
              </a:rPr>
              <a:t>08 · Administración y modo claro / oscuro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admin_l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5577840" cy="3137535"/>
          </a:xfrm>
          <a:prstGeom prst="rect">
            <a:avLst/>
          </a:prstGeom>
        </p:spPr>
      </p:pic>
      <p:pic>
        <p:nvPicPr>
          <p:cNvPr id="7" name="Picture 6" descr="07_admin_dark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08760"/>
            <a:ext cx="5577840" cy="313753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61772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🌞  Modo claro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461772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🌙  Modo oscuro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00897B"/>
                </a:solidFill>
                <a:latin typeface="Calibri"/>
              </a:rPr>
              <a:t>•  </a:t>
            </a:r>
            <a:r>
              <a:rPr sz="1300">
                <a:solidFill>
                  <a:srgbClr val="2C3E50"/>
                </a:solidFill>
                <a:latin typeface="Calibri"/>
              </a:rPr>
              <a:t>Vista clara de todos los usuarios, con su rol y estado.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00897B"/>
                </a:solidFill>
                <a:latin typeface="Calibri"/>
              </a:rPr>
              <a:t>•  </a:t>
            </a:r>
            <a:r>
              <a:rPr sz="1300">
                <a:solidFill>
                  <a:srgbClr val="2C3E50"/>
                </a:solidFill>
                <a:latin typeface="Calibri"/>
              </a:rPr>
              <a:t>El administrador puede editar, dar de baja o aprobar especialidades.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1">
                <a:solidFill>
                  <a:srgbClr val="00897B"/>
                </a:solidFill>
                <a:latin typeface="Calibri"/>
              </a:rPr>
              <a:t>•  </a:t>
            </a:r>
            <a:r>
              <a:rPr sz="1300">
                <a:solidFill>
                  <a:srgbClr val="2C3E50"/>
                </a:solidFill>
                <a:latin typeface="Calibri"/>
              </a:rPr>
              <a:t>El mismo panel se adapta al estilo visual preferido (claro u oscuro).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C3E50"/>
                </a:solidFill>
                <a:latin typeface="Calibri"/>
              </a:rPr>
              <a:t>09 · Lo que destaca de Turnix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11880" cy="23317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0897B"/>
                </a:solidFill>
                <a:latin typeface="Calibri"/>
              </a:rP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55648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En tiempo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9718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Los turnos avanzan solos, el chat es instantáneo y las recetas aparecen sin recargar.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63040"/>
            <a:ext cx="3611880" cy="23317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6916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0897B"/>
                </a:solidFill>
                <a:latin typeface="Calibri"/>
              </a:rPr>
              <a:t>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755648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Firma con el ratón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468880"/>
            <a:ext cx="29718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Sin escáner, sin papel: el médico firma con el ratón y la firma queda dentro del PDF.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611880" cy="23317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6916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0897B"/>
                </a:solidFill>
                <a:latin typeface="Calibri"/>
              </a:rPr>
              <a:t>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Funciona en 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468880"/>
            <a:ext cx="29718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Móvil, tablet u ordenador. Solo necesitas un navegador moderno y conexión.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3611880" cy="23317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0897B"/>
                </a:solidFill>
                <a:latin typeface="Calibri"/>
              </a:rPr>
              <a:t>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270248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Claro u oscuro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983480"/>
            <a:ext cx="29718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Cada usuario elige el tema visual que más le guste y se recuerda automáticamente.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977640"/>
            <a:ext cx="3611880" cy="23317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2062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0897B"/>
                </a:solidFill>
                <a:latin typeface="Calibri"/>
              </a:rPr>
              <a:t>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4270248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Acciones protegidas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983480"/>
            <a:ext cx="29718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Las acciones importantes (firmar receta, dar de baja un usuario) piden confirmación con contraseña.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977640"/>
            <a:ext cx="3611880" cy="23317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42062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00897B"/>
                </a:solidFill>
                <a:latin typeface="Calibri"/>
              </a:rPr>
              <a:t>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4270248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Avisos por email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4983480"/>
            <a:ext cx="29718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Verificación de cuenta y recuperación de contraseña se hacen por correo.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10 · Demo en vivo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371600" cy="45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9CAFC0"/>
                </a:solidFill>
                <a:latin typeface="Calibri"/>
              </a:rPr>
              <a:t>El recorrido completo en cuatro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064240" cy="6400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67E8F9"/>
                </a:solidFill>
                <a:latin typeface="Consolas"/>
              </a:rPr>
              <a:t>00:00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2249424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Entro como paciente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30428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Abro la web, inicio sesión y pido un turno.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16352"/>
            <a:ext cx="11064240" cy="6400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175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67E8F9"/>
                </a:solidFill>
                <a:latin typeface="Consolas"/>
              </a:rPr>
              <a:t>00:45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2962656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Cambio al médico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3017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En otra pestaña entro como médico y veo al paciente en espera.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64240" cy="6400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67E8F9"/>
                </a:solidFill>
                <a:latin typeface="Consolas"/>
              </a:rPr>
              <a:t>01:30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3675888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Chateamos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73075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Atiendo al paciente: chat en directo entre las dos pestañas.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42816"/>
            <a:ext cx="11064240" cy="6400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4398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67E8F9"/>
                </a:solidFill>
                <a:latin typeface="Consolas"/>
              </a:rPr>
              <a:t>02:00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38912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Genero la receta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4443984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Relleno el medicamento y firmo con el ratón. Confirmo.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56048"/>
            <a:ext cx="11064240" cy="6400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5721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67E8F9"/>
                </a:solidFill>
                <a:latin typeface="Consolas"/>
              </a:rPr>
              <a:t>02:45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5102352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El paciente la recibe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5157216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Salta el aviso, voy a Mis Recetas y descargo el PDF.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669280"/>
            <a:ext cx="11064240" cy="6400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87044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67E8F9"/>
                </a:solidFill>
                <a:latin typeface="Consolas"/>
              </a:rPr>
              <a:t>03:30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20240" y="5815584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Modo administrador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58704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Como admin, muestro la gestión de usuarios y cambio de tema.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2C3E50"/>
                </a:solidFill>
                <a:latin typeface="Calibri"/>
              </a:rPr>
              <a:t>11 · Próximos pasos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88E5"/>
                </a:solidFill>
                <a:latin typeface="Calibri"/>
              </a:rPr>
              <a:t>Hasta dónde puede llegar Turnix en el futuro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611880" cy="21031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ECC71"/>
                </a:solidFill>
                <a:latin typeface="Calibri"/>
              </a:rPr>
              <a:t>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860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Videollamada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Pasar del chat de texto a la videoconsulta directa.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65960"/>
            <a:ext cx="3611880" cy="21031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2402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ECC71"/>
                </a:solidFill>
                <a:latin typeface="Calibri"/>
              </a:rPr>
              <a:t>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2860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Avisos al móvil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260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Notificaciones nativas cuando es tu turno o llega una receta.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65960"/>
            <a:ext cx="3611880" cy="21031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2402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ECC71"/>
                </a:solidFill>
                <a:latin typeface="Calibri"/>
              </a:rPr>
              <a:t>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2860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Multi-clínica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9260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Que cada centro de salud tenga su propio espacio dentro de Turnix.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33672"/>
            <a:ext cx="3611880" cy="21031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50799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ECC71"/>
                </a:solidFill>
                <a:latin typeface="Calibri"/>
              </a:rPr>
              <a:t>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53712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Calendario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93792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Agendar turnos con día y hora, no solo lista de espera.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4233672"/>
            <a:ext cx="3611880" cy="21031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450799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ECC71"/>
                </a:solidFill>
                <a:latin typeface="Calibri"/>
              </a:rPr>
              <a:t>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4553712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Pre-triaje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93792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Un asistente que pregunte síntomas antes de pasar con el médico.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233672"/>
            <a:ext cx="3611880" cy="210312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50799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ECC71"/>
                </a:solidFill>
                <a:latin typeface="Calibri"/>
              </a:rPr>
              <a:t>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553712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3E50"/>
                </a:solidFill>
                <a:latin typeface="Calibri"/>
              </a:rPr>
              <a:t>Estadísticas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5193792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75569"/>
                </a:solidFill>
                <a:latin typeface="Calibri"/>
              </a:rPr>
              <a:t>Panel con tiempos de espera medios, valoraciones y consultas atendidas.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Turnix Salud  ·  Rodrigo García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B6B7A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2191695" cy="457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45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0" b="1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9CAFC0"/>
                </a:solidFill>
                <a:latin typeface="Calibri"/>
              </a:rPr>
              <a:t>¿Alguna pregunta?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7E8F9"/>
                </a:solidFill>
                <a:latin typeface="Calibri"/>
              </a:rPr>
              <a:t>Turnix Salud  ·  Rodrigo García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